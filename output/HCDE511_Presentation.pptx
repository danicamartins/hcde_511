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started with a pretty personal question. Both of us were looking at job listings, thinking about what's happening in our fields, and honestly just feeling uncertain about whether things were getting harder or whether we were imagining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touched any data, we talked to seven people — students figuring out what comes next, people already in the workforce. We didn't come in with a hypothesis. We just asked: if you could see one true thing about AI and jobs right now, what would you want to know? Nobody mentioned automation percentages. That question — is it getting harder in my field specifically — became our design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genuinely the inspiration — the Anthropic Economic Index. It goes occupation by occupation and shows which tasks AI is automating versus augmenting. But it answers a question from the inside — from Claude's perspective. Our users weren't asking about tasks. They were asking about jobs. Whether there were more or fewer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version went toward wages — whether AI was showing up in compensation data. We built it, spent real time with it. But the more we dug in, the harder it became to separate what was AI from inflation, remote work, post-COVID normalization. We felt like we were making an argument we couldn't fully stand behind. So we pulled back. What we landed on was job postings — Indeed publishes a daily hiring index for 37 sectors going back to February 2020. And Anthropic and OpenAI released 128 models in that same window. Two timelines, six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informal usability tests along the way — just showing people the viz and watching where they got stuck. Nobody understood the baseline number. So we added one line directly under the chart: 100 equals Feb 2020. Above means more jobs than before COVID. Below means fewer. The scatter plot also had too many overlapping points — people couldn't read it. So we restructured into four named quadrants and gave everything more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found was genuinely surprising. The sectors with the highest automation risk — Hospitality, Banking, Pharmacy — are either holding steady or above their pre-COVID baseline. Meanwhile Marketing, Media, Administrative work — moderate automation — have softened more. We don't have a clean explanation for that. But we think that tension complicates the story that usually gets told about AI and jobs. Here's what that looks like — [transition to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aggregate timeline first, show AI bars. Then heatmap — filter to knowledge work, click a cell. Then sector detail for Marketing. Then scatter quadrant. Keep it under 4 minutes total with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685800" y="685800"/>
            <a:ext cx="7772400" cy="1508760"/>
          </a:xfrm>
          <a:prstGeom prst="rect">
            <a:avLst/>
          </a:prstGeom>
          <a:noFill/>
          <a:ln/>
        </p:spPr>
        <p:txBody>
          <a:bodyPr wrap="square" lIns="0" tIns="0" rIns="0" bIns="0" rtlCol="0" anchor="t"/>
          <a:lstStyle/>
          <a:p>
            <a:pPr indent="0" marL="0">
              <a:buNone/>
            </a:pPr>
            <a:r>
              <a:rPr lang="en-US" sz="3600" dirty="0">
                <a:solidFill>
                  <a:srgbClr val="1A1714"/>
                </a:solidFill>
                <a:latin typeface="Georgia" pitchFamily="34" charset="0"/>
                <a:ea typeface="Georgia" pitchFamily="34" charset="-122"/>
                <a:cs typeface="Georgia" pitchFamily="34" charset="-120"/>
              </a:rPr>
              <a:t>High Automation Doesn't Mean Fewer Jobs — </a:t>
            </a:r>
            <a:pPr indent="0" marL="0">
              <a:buNone/>
            </a:pPr>
            <a:r>
              <a:rPr lang="en-US" sz="3600" dirty="0">
                <a:solidFill>
                  <a:srgbClr val="C8714A"/>
                </a:solidFill>
                <a:latin typeface="Georgia" pitchFamily="34" charset="0"/>
                <a:ea typeface="Georgia" pitchFamily="34" charset="-122"/>
                <a:cs typeface="Georgia" pitchFamily="34" charset="-120"/>
              </a:rPr>
              <a:t>Yet</a:t>
            </a:r>
            <a:endParaRPr lang="en-US" sz="3600" dirty="0"/>
          </a:p>
        </p:txBody>
      </p:sp>
      <p:sp>
        <p:nvSpPr>
          <p:cNvPr id="3" name="Text 1"/>
          <p:cNvSpPr/>
          <p:nvPr/>
        </p:nvSpPr>
        <p:spPr>
          <a:xfrm>
            <a:off x="685800" y="2331720"/>
            <a:ext cx="7772400" cy="914400"/>
          </a:xfrm>
          <a:prstGeom prst="rect">
            <a:avLst/>
          </a:prstGeom>
          <a:noFill/>
          <a:ln/>
        </p:spPr>
        <p:txBody>
          <a:bodyPr wrap="square" lIns="0" tIns="0" rIns="0" bIns="0" rtlCol="0" anchor="t"/>
          <a:lstStyle/>
          <a:p>
            <a:pPr indent="0" marL="0">
              <a:buNone/>
            </a:pPr>
            <a:r>
              <a:rPr lang="en-US" sz="1800" dirty="0">
                <a:solidFill>
                  <a:srgbClr val="1A1714"/>
                </a:solidFill>
                <a:latin typeface="Helvetica Neue" pitchFamily="34" charset="0"/>
                <a:ea typeface="Helvetica Neue" pitchFamily="34" charset="-122"/>
                <a:cs typeface="Helvetica Neue" pitchFamily="34" charset="-120"/>
              </a:rPr>
              <a:t>Danica &amp; Manasvi · HCDE Data Visualization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685800" y="685800"/>
            <a:ext cx="7772400" cy="1508760"/>
          </a:xfrm>
          <a:prstGeom prst="rect">
            <a:avLst/>
          </a:prstGeom>
          <a:noFill/>
          <a:ln/>
        </p:spPr>
        <p:txBody>
          <a:bodyPr wrap="square" lIns="0" tIns="0" rIns="0" bIns="0" rtlCol="0" anchor="t"/>
          <a:lstStyle/>
          <a:p>
            <a:pPr indent="0" marL="0">
              <a:buNone/>
            </a:pPr>
            <a:r>
              <a:rPr lang="en-US" sz="3600" dirty="0">
                <a:solidFill>
                  <a:srgbClr val="1A1714"/>
                </a:solidFill>
                <a:latin typeface="Georgia" pitchFamily="34" charset="0"/>
                <a:ea typeface="Georgia" pitchFamily="34" charset="-122"/>
                <a:cs typeface="Georgia" pitchFamily="34" charset="-120"/>
              </a:rPr>
              <a:t>We asked 7 people </a:t>
            </a:r>
            <a:pPr indent="0" marL="0">
              <a:buNone/>
            </a:pPr>
            <a:r>
              <a:rPr lang="en-US" sz="3600" dirty="0">
                <a:solidFill>
                  <a:srgbClr val="C8714A"/>
                </a:solidFill>
                <a:latin typeface="Georgia" pitchFamily="34" charset="0"/>
                <a:ea typeface="Georgia" pitchFamily="34" charset="-122"/>
                <a:cs typeface="Georgia" pitchFamily="34" charset="-120"/>
              </a:rPr>
              <a:t>one question</a:t>
            </a:r>
            <a:endParaRPr lang="en-US" sz="3600" dirty="0"/>
          </a:p>
        </p:txBody>
      </p:sp>
      <p:sp>
        <p:nvSpPr>
          <p:cNvPr id="3" name="Text 1"/>
          <p:cNvSpPr/>
          <p:nvPr/>
        </p:nvSpPr>
        <p:spPr>
          <a:xfrm>
            <a:off x="685800" y="2148840"/>
            <a:ext cx="4114800" cy="914400"/>
          </a:xfrm>
          <a:prstGeom prst="rect">
            <a:avLst/>
          </a:prstGeom>
          <a:noFill/>
          <a:ln/>
        </p:spPr>
        <p:txBody>
          <a:bodyPr wrap="square" lIns="0" tIns="0" rIns="0" bIns="0" rtlCol="0" anchor="t"/>
          <a:lstStyle/>
          <a:p>
            <a:pPr indent="0" marL="0">
              <a:buNone/>
            </a:pPr>
            <a:r>
              <a:rPr lang="en-US" sz="1800" dirty="0">
                <a:solidFill>
                  <a:srgbClr val="1A1714"/>
                </a:solidFill>
                <a:latin typeface="Helvetica Neue" pitchFamily="34" charset="0"/>
                <a:ea typeface="Helvetica Neue" pitchFamily="34" charset="-122"/>
                <a:cs typeface="Helvetica Neue" pitchFamily="34" charset="-120"/>
              </a:rPr>
              <a:t>Is it getting harder in my field — and did something change recently?</a:t>
            </a:r>
            <a:endParaRPr lang="en-US" sz="1800" dirty="0"/>
          </a:p>
        </p:txBody>
      </p:sp>
      <p:sp>
        <p:nvSpPr>
          <p:cNvPr id="4" name="Shape 2"/>
          <p:cNvSpPr/>
          <p:nvPr/>
        </p:nvSpPr>
        <p:spPr>
          <a:xfrm>
            <a:off x="5029200" y="1828800"/>
            <a:ext cx="3429000" cy="2926080"/>
          </a:xfrm>
          <a:prstGeom prst="rect">
            <a:avLst/>
          </a:prstGeom>
          <a:solidFill>
            <a:srgbClr val="F7F5F0"/>
          </a:solidFill>
          <a:ln w="19050">
            <a:solidFill>
              <a:srgbClr val="E8E4DC"/>
            </a:solidFill>
            <a:prstDash val="solid"/>
          </a:ln>
        </p:spPr>
      </p:sp>
      <p:sp>
        <p:nvSpPr>
          <p:cNvPr id="5" name="Text 3"/>
          <p:cNvSpPr/>
          <p:nvPr/>
        </p:nvSpPr>
        <p:spPr>
          <a:xfrm>
            <a:off x="5212080" y="2011680"/>
            <a:ext cx="3063240" cy="2560320"/>
          </a:xfrm>
          <a:prstGeom prst="rect">
            <a:avLst/>
          </a:prstGeom>
          <a:noFill/>
          <a:ln/>
        </p:spPr>
        <p:txBody>
          <a:bodyPr wrap="square" lIns="0" tIns="0" rIns="0" bIns="0" rtlCol="0" anchor="ctr"/>
          <a:lstStyle/>
          <a:p>
            <a:pPr algn="ctr" indent="0" marL="0">
              <a:buNone/>
            </a:pPr>
            <a:r>
              <a:rPr lang="en-US" sz="1100" dirty="0">
                <a:solidFill>
                  <a:srgbClr val="6B6560"/>
                </a:solidFill>
                <a:latin typeface="Helvetica Neue" pitchFamily="34" charset="0"/>
                <a:ea typeface="Helvetica Neue" pitchFamily="34" charset="-122"/>
                <a:cs typeface="Helvetica Neue" pitchFamily="34" charset="-120"/>
              </a:rPr>
              <a:t>[IMAGE: handwritten notes or informal interview setting — add your own photo here]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685800" y="685800"/>
            <a:ext cx="7772400" cy="1508760"/>
          </a:xfrm>
          <a:prstGeom prst="rect">
            <a:avLst/>
          </a:prstGeom>
          <a:noFill/>
          <a:ln/>
        </p:spPr>
        <p:txBody>
          <a:bodyPr wrap="square" lIns="0" tIns="0" rIns="0" bIns="0" rtlCol="0" anchor="t"/>
          <a:lstStyle/>
          <a:p>
            <a:pPr indent="0" marL="0">
              <a:buNone/>
            </a:pPr>
            <a:r>
              <a:rPr lang="en-US" sz="3600" dirty="0">
                <a:solidFill>
                  <a:srgbClr val="1A1714"/>
                </a:solidFill>
                <a:latin typeface="Georgia" pitchFamily="34" charset="0"/>
                <a:ea typeface="Georgia" pitchFamily="34" charset="-122"/>
                <a:cs typeface="Georgia" pitchFamily="34" charset="-120"/>
              </a:rPr>
              <a:t>We started here</a:t>
            </a:r>
            <a:endParaRPr lang="en-US" sz="3600" dirty="0"/>
          </a:p>
        </p:txBody>
      </p:sp>
      <p:sp>
        <p:nvSpPr>
          <p:cNvPr id="3" name="Text 1"/>
          <p:cNvSpPr/>
          <p:nvPr/>
        </p:nvSpPr>
        <p:spPr>
          <a:xfrm>
            <a:off x="685800" y="2148840"/>
            <a:ext cx="4114800" cy="914400"/>
          </a:xfrm>
          <a:prstGeom prst="rect">
            <a:avLst/>
          </a:prstGeom>
          <a:noFill/>
          <a:ln/>
        </p:spPr>
        <p:txBody>
          <a:bodyPr wrap="square" lIns="0" tIns="0" rIns="0" bIns="0" rtlCol="0" anchor="t"/>
          <a:lstStyle/>
          <a:p>
            <a:pPr indent="0" marL="0">
              <a:buNone/>
            </a:pPr>
            <a:r>
              <a:rPr lang="en-US" sz="1800" dirty="0">
                <a:solidFill>
                  <a:srgbClr val="1A1714"/>
                </a:solidFill>
                <a:latin typeface="Helvetica Neue" pitchFamily="34" charset="0"/>
                <a:ea typeface="Helvetica Neue" pitchFamily="34" charset="-122"/>
                <a:cs typeface="Helvetica Neue" pitchFamily="34" charset="-120"/>
              </a:rPr>
              <a:t>Beautiful work. But it answers AI's question, not </a:t>
            </a:r>
            <a:pPr indent="0" marL="0">
              <a:buNone/>
            </a:pPr>
            <a:r>
              <a:rPr lang="en-US" sz="1800" dirty="0">
                <a:solidFill>
                  <a:srgbClr val="C8714A"/>
                </a:solidFill>
                <a:latin typeface="Helvetica Neue" pitchFamily="34" charset="0"/>
                <a:ea typeface="Helvetica Neue" pitchFamily="34" charset="-122"/>
                <a:cs typeface="Helvetica Neue" pitchFamily="34" charset="-120"/>
              </a:rPr>
              <a:t>theirs</a:t>
            </a:r>
            <a:pPr indent="0" marL="0">
              <a:buNone/>
            </a:pPr>
            <a:r>
              <a:rPr lang="en-US" sz="1800" dirty="0">
                <a:solidFill>
                  <a:srgbClr val="1A1714"/>
                </a:solidFill>
                <a:latin typeface="Helvetica Neue" pitchFamily="34" charset="0"/>
                <a:ea typeface="Helvetica Neue" pitchFamily="34" charset="-122"/>
                <a:cs typeface="Helvetica Neue" pitchFamily="34" charset="-120"/>
              </a:rPr>
              <a:t>.</a:t>
            </a:r>
            <a:endParaRPr lang="en-US" sz="1800" dirty="0"/>
          </a:p>
        </p:txBody>
      </p:sp>
      <p:sp>
        <p:nvSpPr>
          <p:cNvPr id="4" name="Shape 2"/>
          <p:cNvSpPr/>
          <p:nvPr/>
        </p:nvSpPr>
        <p:spPr>
          <a:xfrm>
            <a:off x="5029200" y="1828800"/>
            <a:ext cx="3429000" cy="2926080"/>
          </a:xfrm>
          <a:prstGeom prst="rect">
            <a:avLst/>
          </a:prstGeom>
          <a:solidFill>
            <a:srgbClr val="F7F5F0"/>
          </a:solidFill>
          <a:ln w="19050">
            <a:solidFill>
              <a:srgbClr val="E8E4DC"/>
            </a:solidFill>
            <a:prstDash val="solid"/>
          </a:ln>
        </p:spPr>
      </p:sp>
      <p:sp>
        <p:nvSpPr>
          <p:cNvPr id="5" name="Text 3"/>
          <p:cNvSpPr/>
          <p:nvPr/>
        </p:nvSpPr>
        <p:spPr>
          <a:xfrm>
            <a:off x="5212080" y="2011680"/>
            <a:ext cx="3063240" cy="2560320"/>
          </a:xfrm>
          <a:prstGeom prst="rect">
            <a:avLst/>
          </a:prstGeom>
          <a:noFill/>
          <a:ln/>
        </p:spPr>
        <p:txBody>
          <a:bodyPr wrap="square" lIns="0" tIns="0" rIns="0" bIns="0" rtlCol="0" anchor="ctr"/>
          <a:lstStyle/>
          <a:p>
            <a:pPr algn="ctr" indent="0" marL="0">
              <a:buNone/>
            </a:pPr>
            <a:r>
              <a:rPr lang="en-US" sz="1100" dirty="0">
                <a:solidFill>
                  <a:srgbClr val="6B6560"/>
                </a:solidFill>
                <a:latin typeface="Helvetica Neue" pitchFamily="34" charset="0"/>
                <a:ea typeface="Helvetica Neue" pitchFamily="34" charset="-122"/>
                <a:cs typeface="Helvetica Neue" pitchFamily="34" charset="-120"/>
              </a:rPr>
              <a:t>[IMAGE: Anthropic Economic Index screenshot — explore.anthropic.com/economic-index]</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685800" y="685800"/>
            <a:ext cx="7772400" cy="1508760"/>
          </a:xfrm>
          <a:prstGeom prst="rect">
            <a:avLst/>
          </a:prstGeom>
          <a:noFill/>
          <a:ln/>
        </p:spPr>
        <p:txBody>
          <a:bodyPr wrap="square" lIns="0" tIns="0" rIns="0" bIns="0" rtlCol="0" anchor="t"/>
          <a:lstStyle/>
          <a:p>
            <a:pPr indent="0" marL="0">
              <a:buNone/>
            </a:pPr>
            <a:r>
              <a:rPr lang="en-US" sz="3600" dirty="0">
                <a:solidFill>
                  <a:srgbClr val="1A1714"/>
                </a:solidFill>
                <a:latin typeface="Georgia" pitchFamily="34" charset="0"/>
                <a:ea typeface="Georgia" pitchFamily="34" charset="-122"/>
                <a:cs typeface="Georgia" pitchFamily="34" charset="-120"/>
              </a:rPr>
              <a:t>First we tried wages. Then we changed </a:t>
            </a:r>
            <a:pPr indent="0" marL="0">
              <a:buNone/>
            </a:pPr>
            <a:r>
              <a:rPr lang="en-US" sz="3600" dirty="0">
                <a:solidFill>
                  <a:srgbClr val="C8714A"/>
                </a:solidFill>
                <a:latin typeface="Georgia" pitchFamily="34" charset="0"/>
                <a:ea typeface="Georgia" pitchFamily="34" charset="-122"/>
                <a:cs typeface="Georgia" pitchFamily="34" charset="-120"/>
              </a:rPr>
              <a:t>direction</a:t>
            </a:r>
            <a:pPr indent="0" marL="0">
              <a:buNone/>
            </a:pPr>
            <a:r>
              <a:rPr lang="en-US" sz="3600" dirty="0">
                <a:solidFill>
                  <a:srgbClr val="1A1714"/>
                </a:solidFill>
                <a:latin typeface="Georgia" pitchFamily="34" charset="0"/>
                <a:ea typeface="Georgia" pitchFamily="34" charset="-122"/>
                <a:cs typeface="Georgia" pitchFamily="34" charset="-120"/>
              </a:rPr>
              <a:t>.</a:t>
            </a:r>
            <a:endParaRPr lang="en-US" sz="3600" dirty="0"/>
          </a:p>
        </p:txBody>
      </p:sp>
      <p:sp>
        <p:nvSpPr>
          <p:cNvPr id="3" name="Text 1"/>
          <p:cNvSpPr/>
          <p:nvPr/>
        </p:nvSpPr>
        <p:spPr>
          <a:xfrm>
            <a:off x="685800" y="2148840"/>
            <a:ext cx="4114800" cy="914400"/>
          </a:xfrm>
          <a:prstGeom prst="rect">
            <a:avLst/>
          </a:prstGeom>
          <a:noFill/>
          <a:ln/>
        </p:spPr>
        <p:txBody>
          <a:bodyPr wrap="square" lIns="0" tIns="0" rIns="0" bIns="0" rtlCol="0" anchor="t"/>
          <a:lstStyle/>
          <a:p>
            <a:pPr indent="0" marL="0">
              <a:buNone/>
            </a:pPr>
            <a:r>
              <a:rPr lang="en-US" sz="1800" dirty="0">
                <a:solidFill>
                  <a:srgbClr val="1A1714"/>
                </a:solidFill>
                <a:latin typeface="Helvetica Neue" pitchFamily="34" charset="0"/>
                <a:ea typeface="Helvetica Neue" pitchFamily="34" charset="-122"/>
                <a:cs typeface="Helvetica Neue" pitchFamily="34" charset="-120"/>
              </a:rPr>
              <a:t>Too many confounds. We couldn't isolate the AI signal.</a:t>
            </a:r>
            <a:endParaRPr lang="en-US" sz="1800" dirty="0"/>
          </a:p>
        </p:txBody>
      </p:sp>
      <p:sp>
        <p:nvSpPr>
          <p:cNvPr id="4" name="Shape 2"/>
          <p:cNvSpPr/>
          <p:nvPr/>
        </p:nvSpPr>
        <p:spPr>
          <a:xfrm>
            <a:off x="5029200" y="1828800"/>
            <a:ext cx="3429000" cy="2926080"/>
          </a:xfrm>
          <a:prstGeom prst="rect">
            <a:avLst/>
          </a:prstGeom>
          <a:solidFill>
            <a:srgbClr val="F7F5F0"/>
          </a:solidFill>
          <a:ln w="19050">
            <a:solidFill>
              <a:srgbClr val="E8E4DC"/>
            </a:solidFill>
            <a:prstDash val="solid"/>
          </a:ln>
        </p:spPr>
      </p:sp>
      <p:sp>
        <p:nvSpPr>
          <p:cNvPr id="5" name="Text 3"/>
          <p:cNvSpPr/>
          <p:nvPr/>
        </p:nvSpPr>
        <p:spPr>
          <a:xfrm>
            <a:off x="5212080" y="2011680"/>
            <a:ext cx="3063240" cy="2560320"/>
          </a:xfrm>
          <a:prstGeom prst="rect">
            <a:avLst/>
          </a:prstGeom>
          <a:noFill/>
          <a:ln/>
        </p:spPr>
        <p:txBody>
          <a:bodyPr wrap="square" lIns="0" tIns="0" rIns="0" bIns="0" rtlCol="0" anchor="ctr"/>
          <a:lstStyle/>
          <a:p>
            <a:pPr algn="ctr" indent="0" marL="0">
              <a:buNone/>
            </a:pPr>
            <a:r>
              <a:rPr lang="en-US" sz="1100" dirty="0">
                <a:solidFill>
                  <a:srgbClr val="6B6560"/>
                </a:solidFill>
                <a:latin typeface="Helvetica Neue" pitchFamily="34" charset="0"/>
                <a:ea typeface="Helvetica Neue" pitchFamily="34" charset="-122"/>
                <a:cs typeface="Helvetica Neue" pitchFamily="34" charset="-120"/>
              </a:rPr>
              <a:t>[IMAGE: wages visualization screenshot — manasvikale99.github.io/The-AI-Shift/viz/]</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685800" y="685800"/>
            <a:ext cx="7772400" cy="1508760"/>
          </a:xfrm>
          <a:prstGeom prst="rect">
            <a:avLst/>
          </a:prstGeom>
          <a:noFill/>
          <a:ln/>
        </p:spPr>
        <p:txBody>
          <a:bodyPr wrap="square" lIns="0" tIns="0" rIns="0" bIns="0" rtlCol="0" anchor="t"/>
          <a:lstStyle/>
          <a:p>
            <a:pPr indent="0" marL="0">
              <a:buNone/>
            </a:pPr>
            <a:r>
              <a:rPr lang="en-US" sz="3600" dirty="0">
                <a:solidFill>
                  <a:srgbClr val="1A1714"/>
                </a:solidFill>
                <a:latin typeface="Georgia" pitchFamily="34" charset="0"/>
                <a:ea typeface="Georgia" pitchFamily="34" charset="-122"/>
                <a:cs typeface="Georgia" pitchFamily="34" charset="-120"/>
              </a:rPr>
              <a:t>Two things nobody understood</a:t>
            </a:r>
            <a:endParaRPr lang="en-US" sz="3600" dirty="0"/>
          </a:p>
        </p:txBody>
      </p:sp>
      <p:sp>
        <p:nvSpPr>
          <p:cNvPr id="3" name="Text 1"/>
          <p:cNvSpPr/>
          <p:nvPr/>
        </p:nvSpPr>
        <p:spPr>
          <a:xfrm>
            <a:off x="685800" y="2148840"/>
            <a:ext cx="4114800" cy="914400"/>
          </a:xfrm>
          <a:prstGeom prst="rect">
            <a:avLst/>
          </a:prstGeom>
          <a:noFill/>
          <a:ln/>
        </p:spPr>
        <p:txBody>
          <a:bodyPr wrap="square" lIns="0" tIns="0" rIns="0" bIns="0" rtlCol="0" anchor="t"/>
          <a:lstStyle/>
          <a:p>
            <a:pPr indent="0" marL="0">
              <a:buNone/>
            </a:pPr>
            <a:r>
              <a:rPr lang="en-US" sz="1800" dirty="0">
                <a:solidFill>
                  <a:srgbClr val="1A1714"/>
                </a:solidFill>
                <a:latin typeface="Helvetica Neue" pitchFamily="34" charset="0"/>
                <a:ea typeface="Helvetica Neue" pitchFamily="34" charset="-122"/>
                <a:cs typeface="Helvetica Neue" pitchFamily="34" charset="-120"/>
              </a:rPr>
              <a:t>What does </a:t>
            </a:r>
            <a:pPr indent="0" marL="0">
              <a:buNone/>
            </a:pPr>
            <a:r>
              <a:rPr lang="en-US" sz="1800" dirty="0">
                <a:solidFill>
                  <a:srgbClr val="C8714A"/>
                </a:solidFill>
                <a:latin typeface="Helvetica Neue" pitchFamily="34" charset="0"/>
                <a:ea typeface="Helvetica Neue" pitchFamily="34" charset="-122"/>
                <a:cs typeface="Helvetica Neue" pitchFamily="34" charset="-120"/>
              </a:rPr>
              <a:t>100</a:t>
            </a:r>
            <a:pPr indent="0" marL="0">
              <a:buNone/>
            </a:pPr>
            <a:r>
              <a:rPr lang="en-US" sz="1800" dirty="0">
                <a:solidFill>
                  <a:srgbClr val="1A1714"/>
                </a:solidFill>
                <a:latin typeface="Helvetica Neue" pitchFamily="34" charset="0"/>
                <a:ea typeface="Helvetica Neue" pitchFamily="34" charset="-122"/>
                <a:cs typeface="Helvetica Neue" pitchFamily="34" charset="-120"/>
              </a:rPr>
              <a:t> mean? And why is everything </a:t>
            </a:r>
            <a:pPr indent="0" marL="0">
              <a:buNone/>
            </a:pPr>
            <a:r>
              <a:rPr lang="en-US" sz="1800" dirty="0">
                <a:solidFill>
                  <a:srgbClr val="C8714A"/>
                </a:solidFill>
                <a:latin typeface="Helvetica Neue" pitchFamily="34" charset="0"/>
                <a:ea typeface="Helvetica Neue" pitchFamily="34" charset="-122"/>
                <a:cs typeface="Helvetica Neue" pitchFamily="34" charset="-120"/>
              </a:rPr>
              <a:t>overlapping</a:t>
            </a:r>
            <a:pPr indent="0" marL="0">
              <a:buNone/>
            </a:pPr>
            <a:r>
              <a:rPr lang="en-US" sz="1800" dirty="0">
                <a:solidFill>
                  <a:srgbClr val="1A1714"/>
                </a:solidFill>
                <a:latin typeface="Helvetica Neue" pitchFamily="34" charset="0"/>
                <a:ea typeface="Helvetica Neue" pitchFamily="34" charset="-122"/>
                <a:cs typeface="Helvetica Neue" pitchFamily="34" charset="-120"/>
              </a:rPr>
              <a:t>?</a:t>
            </a:r>
            <a:endParaRPr lang="en-US" sz="1800" dirty="0"/>
          </a:p>
        </p:txBody>
      </p:sp>
      <p:sp>
        <p:nvSpPr>
          <p:cNvPr id="4" name="Shape 2"/>
          <p:cNvSpPr/>
          <p:nvPr/>
        </p:nvSpPr>
        <p:spPr>
          <a:xfrm>
            <a:off x="5029200" y="1828800"/>
            <a:ext cx="3429000" cy="2926080"/>
          </a:xfrm>
          <a:prstGeom prst="rect">
            <a:avLst/>
          </a:prstGeom>
          <a:solidFill>
            <a:srgbClr val="F7F5F0"/>
          </a:solidFill>
          <a:ln w="19050">
            <a:solidFill>
              <a:srgbClr val="E8E4DC"/>
            </a:solidFill>
            <a:prstDash val="solid"/>
          </a:ln>
        </p:spPr>
      </p:sp>
      <p:sp>
        <p:nvSpPr>
          <p:cNvPr id="5" name="Text 3"/>
          <p:cNvSpPr/>
          <p:nvPr/>
        </p:nvSpPr>
        <p:spPr>
          <a:xfrm>
            <a:off x="5212080" y="2011680"/>
            <a:ext cx="3063240" cy="2560320"/>
          </a:xfrm>
          <a:prstGeom prst="rect">
            <a:avLst/>
          </a:prstGeom>
          <a:noFill/>
          <a:ln/>
        </p:spPr>
        <p:txBody>
          <a:bodyPr wrap="square" lIns="0" tIns="0" rIns="0" bIns="0" rtlCol="0" anchor="ctr"/>
          <a:lstStyle/>
          <a:p>
            <a:pPr algn="ctr" indent="0" marL="0">
              <a:buNone/>
            </a:pPr>
            <a:r>
              <a:rPr lang="en-US" sz="1100" dirty="0">
                <a:solidFill>
                  <a:srgbClr val="6B6560"/>
                </a:solidFill>
                <a:latin typeface="Helvetica Neue" pitchFamily="34" charset="0"/>
                <a:ea typeface="Helvetica Neue" pitchFamily="34" charset="-122"/>
                <a:cs typeface="Helvetica Neue" pitchFamily="34" charset="-120"/>
              </a:rPr>
              <a:t>[IMAGE: before/after of scatter plot simplification]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685800" y="685800"/>
            <a:ext cx="7772400" cy="1508760"/>
          </a:xfrm>
          <a:prstGeom prst="rect">
            <a:avLst/>
          </a:prstGeom>
          <a:noFill/>
          <a:ln/>
        </p:spPr>
        <p:txBody>
          <a:bodyPr wrap="square" lIns="0" tIns="0" rIns="0" bIns="0" rtlCol="0" anchor="t"/>
          <a:lstStyle/>
          <a:p>
            <a:pPr indent="0" marL="0">
              <a:buNone/>
            </a:pPr>
            <a:r>
              <a:rPr lang="en-US" sz="3200" dirty="0">
                <a:solidFill>
                  <a:srgbClr val="1A1714"/>
                </a:solidFill>
                <a:latin typeface="Georgia" pitchFamily="34" charset="0"/>
                <a:ea typeface="Georgia" pitchFamily="34" charset="-122"/>
                <a:cs typeface="Georgia" pitchFamily="34" charset="-120"/>
              </a:rPr>
              <a:t>The sectors most at risk </a:t>
            </a:r>
            <a:pPr indent="0" marL="0">
              <a:buNone/>
            </a:pPr>
            <a:r>
              <a:rPr lang="en-US" sz="3200" dirty="0">
                <a:solidFill>
                  <a:srgbClr val="C8714A"/>
                </a:solidFill>
                <a:latin typeface="Georgia" pitchFamily="34" charset="0"/>
                <a:ea typeface="Georgia" pitchFamily="34" charset="-122"/>
                <a:cs typeface="Georgia" pitchFamily="34" charset="-120"/>
              </a:rPr>
              <a:t>aren't</a:t>
            </a:r>
            <a:pPr indent="0" marL="0">
              <a:buNone/>
            </a:pPr>
            <a:r>
              <a:rPr lang="en-US" sz="3200" dirty="0">
                <a:solidFill>
                  <a:srgbClr val="1A1714"/>
                </a:solidFill>
                <a:latin typeface="Georgia" pitchFamily="34" charset="0"/>
                <a:ea typeface="Georgia" pitchFamily="34" charset="-122"/>
                <a:cs typeface="Georgia" pitchFamily="34" charset="-120"/>
              </a:rPr>
              <a:t> losing the most jobs</a:t>
            </a:r>
            <a:endParaRPr lang="en-US" sz="3200" dirty="0"/>
          </a:p>
        </p:txBody>
      </p:sp>
      <p:sp>
        <p:nvSpPr>
          <p:cNvPr id="3" name="Text 1"/>
          <p:cNvSpPr/>
          <p:nvPr/>
        </p:nvSpPr>
        <p:spPr>
          <a:xfrm>
            <a:off x="685800" y="2148840"/>
            <a:ext cx="4114800" cy="914400"/>
          </a:xfrm>
          <a:prstGeom prst="rect">
            <a:avLst/>
          </a:prstGeom>
          <a:noFill/>
          <a:ln/>
        </p:spPr>
        <p:txBody>
          <a:bodyPr wrap="square" lIns="0" tIns="0" rIns="0" bIns="0" rtlCol="0" anchor="t"/>
          <a:lstStyle/>
          <a:p>
            <a:pPr indent="0" marL="0">
              <a:buNone/>
            </a:pPr>
            <a:r>
              <a:rPr lang="en-US" sz="1800" dirty="0">
                <a:solidFill>
                  <a:srgbClr val="1A1714"/>
                </a:solidFill>
                <a:latin typeface="Helvetica Neue" pitchFamily="34" charset="0"/>
                <a:ea typeface="Helvetica Neue" pitchFamily="34" charset="-122"/>
                <a:cs typeface="Helvetica Neue" pitchFamily="34" charset="-120"/>
              </a:rPr>
              <a:t>That tension is worth showing.</a:t>
            </a:r>
            <a:endParaRPr lang="en-US" sz="1800" dirty="0"/>
          </a:p>
        </p:txBody>
      </p:sp>
      <p:sp>
        <p:nvSpPr>
          <p:cNvPr id="4" name="Shape 2"/>
          <p:cNvSpPr/>
          <p:nvPr/>
        </p:nvSpPr>
        <p:spPr>
          <a:xfrm>
            <a:off x="5029200" y="1828800"/>
            <a:ext cx="3429000" cy="2926080"/>
          </a:xfrm>
          <a:prstGeom prst="rect">
            <a:avLst/>
          </a:prstGeom>
          <a:solidFill>
            <a:srgbClr val="F7F5F0"/>
          </a:solidFill>
          <a:ln w="19050">
            <a:solidFill>
              <a:srgbClr val="E8E4DC"/>
            </a:solidFill>
            <a:prstDash val="solid"/>
          </a:ln>
        </p:spPr>
      </p:sp>
      <p:sp>
        <p:nvSpPr>
          <p:cNvPr id="5" name="Text 3"/>
          <p:cNvSpPr/>
          <p:nvPr/>
        </p:nvSpPr>
        <p:spPr>
          <a:xfrm>
            <a:off x="5212080" y="2011680"/>
            <a:ext cx="3063240" cy="2560320"/>
          </a:xfrm>
          <a:prstGeom prst="rect">
            <a:avLst/>
          </a:prstGeom>
          <a:noFill/>
          <a:ln/>
        </p:spPr>
        <p:txBody>
          <a:bodyPr wrap="square" lIns="0" tIns="0" rIns="0" bIns="0" rtlCol="0" anchor="ctr"/>
          <a:lstStyle/>
          <a:p>
            <a:pPr algn="ctr" indent="0" marL="0">
              <a:buNone/>
            </a:pPr>
            <a:r>
              <a:rPr lang="en-US" sz="1100" dirty="0">
                <a:solidFill>
                  <a:srgbClr val="6B6560"/>
                </a:solidFill>
                <a:latin typeface="Helvetica Neue" pitchFamily="34" charset="0"/>
                <a:ea typeface="Helvetica Neue" pitchFamily="34" charset="-122"/>
                <a:cs typeface="Helvetica Neue" pitchFamily="34" charset="-120"/>
              </a:rPr>
              <a:t>[IMAGE: quadrant scatter plot screenshot showing 'High Automation Doesn't Mean Fewer Jobs — Yet']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685800" y="685800"/>
            <a:ext cx="7772400" cy="1508760"/>
          </a:xfrm>
          <a:prstGeom prst="rect">
            <a:avLst/>
          </a:prstGeom>
          <a:noFill/>
          <a:ln/>
        </p:spPr>
        <p:txBody>
          <a:bodyPr wrap="square" lIns="0" tIns="0" rIns="0" bIns="0" rtlCol="0" anchor="t"/>
          <a:lstStyle/>
          <a:p>
            <a:pPr indent="0" marL="0">
              <a:buNone/>
            </a:pPr>
            <a:r>
              <a:rPr lang="en-US" sz="3600" dirty="0">
                <a:solidFill>
                  <a:srgbClr val="1A1714"/>
                </a:solidFill>
                <a:latin typeface="Georgia" pitchFamily="34" charset="0"/>
                <a:ea typeface="Georgia" pitchFamily="34" charset="-122"/>
                <a:cs typeface="Georgia" pitchFamily="34" charset="-120"/>
              </a:rPr>
              <a:t>Explore it </a:t>
            </a:r>
            <a:pPr indent="0" marL="0">
              <a:buNone/>
            </a:pPr>
            <a:r>
              <a:rPr lang="en-US" sz="3600" dirty="0">
                <a:solidFill>
                  <a:srgbClr val="C8714A"/>
                </a:solidFill>
                <a:latin typeface="Georgia" pitchFamily="34" charset="0"/>
                <a:ea typeface="Georgia" pitchFamily="34" charset="-122"/>
                <a:cs typeface="Georgia" pitchFamily="34" charset="-120"/>
              </a:rPr>
              <a:t>yourself</a:t>
            </a:r>
            <a:endParaRPr lang="en-US" sz="3600" dirty="0"/>
          </a:p>
        </p:txBody>
      </p:sp>
      <p:sp>
        <p:nvSpPr>
          <p:cNvPr id="3" name="Text 1"/>
          <p:cNvSpPr/>
          <p:nvPr/>
        </p:nvSpPr>
        <p:spPr>
          <a:xfrm>
            <a:off x="685800" y="1920240"/>
            <a:ext cx="7772400" cy="1371600"/>
          </a:xfrm>
          <a:prstGeom prst="rect">
            <a:avLst/>
          </a:prstGeom>
          <a:noFill/>
          <a:ln/>
        </p:spPr>
        <p:txBody>
          <a:bodyPr wrap="square" lIns="0" tIns="0" rIns="0" bIns="0" rtlCol="0" anchor="ctr"/>
          <a:lstStyle/>
          <a:p>
            <a:pPr algn="ctr" indent="0" marL="0">
              <a:buNone/>
            </a:pPr>
            <a:r>
              <a:rPr lang="en-US" sz="2400" dirty="0">
                <a:solidFill>
                  <a:srgbClr val="1A1714"/>
                </a:solidFill>
                <a:latin typeface="Helvetica Neue" pitchFamily="34" charset="0"/>
                <a:ea typeface="Helvetica Neue" pitchFamily="34" charset="-122"/>
                <a:cs typeface="Helvetica Neue" pitchFamily="34" charset="-120"/>
              </a:rPr>
              <a:t>manasvikale99.github.io/ai-viz</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 Automation Doesn't Mean Fewer Jobs — Yet</dc:title>
  <dc:subject>PptxGenJS Presentation</dc:subject>
  <dc:creator>Danica &amp; Manasvi</dc:creator>
  <cp:lastModifiedBy>Danica &amp; Manasvi</cp:lastModifiedBy>
  <cp:revision>1</cp:revision>
  <dcterms:created xsi:type="dcterms:W3CDTF">2026-06-03T22:20:13Z</dcterms:created>
  <dcterms:modified xsi:type="dcterms:W3CDTF">2026-06-03T22:20:13Z</dcterms:modified>
</cp:coreProperties>
</file>